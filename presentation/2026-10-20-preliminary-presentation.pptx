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7cb81a1431fed5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7cb81a1431fed5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7cb81a1431fed50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7cb81a1431fed50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5ad4a646676317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5ad4a646676317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5ad4a6466763179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5ad4a6466763179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486b52897c3008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486b52897c3008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486b52897c300844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h486b52897c300844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486b52897c300844_1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486b52897c300844_1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3019ebc3f27d909c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3019ebc3f27d909c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3019ebc3f27d909c_2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h3019ebc3f27d909c_2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newsapi.or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00"/>
              <a:t>Exploring applications for the Montandon Global Crisis Data Bank</a:t>
            </a:r>
            <a:endParaRPr sz="2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Jeongmin An, Jehan Bugli, and Aidan Carlisle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/>
              <a:t>The Montandon Data Bank collects disaster data from disparate sources, exposing it under a unified system</a:t>
            </a:r>
            <a:endParaRPr sz="18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345000"/>
            <a:ext cx="5812200" cy="7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Key </a:t>
            </a:r>
            <a:r>
              <a:rPr b="1" lang="en" sz="1400"/>
              <a:t>research question:</a:t>
            </a:r>
            <a:r>
              <a:rPr lang="en" sz="1400"/>
              <a:t> how can the data bank be used to understand disasters and respond to them more effectively?</a:t>
            </a:r>
            <a:endParaRPr sz="1400"/>
          </a:p>
        </p:txBody>
      </p:sp>
      <p:sp>
        <p:nvSpPr>
          <p:cNvPr id="62" name="Google Shape;62;p14"/>
          <p:cNvSpPr/>
          <p:nvPr/>
        </p:nvSpPr>
        <p:spPr>
          <a:xfrm>
            <a:off x="899100" y="2535175"/>
            <a:ext cx="1596300" cy="492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EM-DAT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899100" y="3209800"/>
            <a:ext cx="1596300" cy="492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GDACS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899100" y="3884425"/>
            <a:ext cx="1596300" cy="492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IFRC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243900" y="3209800"/>
            <a:ext cx="1596300" cy="4926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Montandon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5588700" y="2560600"/>
            <a:ext cx="2656200" cy="1791000"/>
          </a:xfrm>
          <a:prstGeom prst="roundRect">
            <a:avLst>
              <a:gd fmla="val 447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Montandon record fields include: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Unstructured text (title, description, keywords)</a:t>
            </a:r>
            <a:endParaRPr sz="1000"/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General event metadata (dates, countries, etc.)</a:t>
            </a:r>
            <a:endParaRPr sz="1000"/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Universal codes (e.g. hazards) and source-specific IDs</a:t>
            </a:r>
            <a:endParaRPr sz="1000"/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Geometry (coordinate points, polygons, etc. by source)</a:t>
            </a:r>
            <a:endParaRPr sz="1000"/>
          </a:p>
        </p:txBody>
      </p:sp>
      <p:cxnSp>
        <p:nvCxnSpPr>
          <p:cNvPr id="67" name="Google Shape;67;p14"/>
          <p:cNvCxnSpPr>
            <a:stCxn id="62" idx="3"/>
            <a:endCxn id="65" idx="1"/>
          </p:cNvCxnSpPr>
          <p:nvPr/>
        </p:nvCxnSpPr>
        <p:spPr>
          <a:xfrm>
            <a:off x="2495400" y="2781475"/>
            <a:ext cx="748500" cy="67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>
            <a:stCxn id="63" idx="3"/>
            <a:endCxn id="65" idx="1"/>
          </p:cNvCxnSpPr>
          <p:nvPr/>
        </p:nvCxnSpPr>
        <p:spPr>
          <a:xfrm>
            <a:off x="2495400" y="3456100"/>
            <a:ext cx="74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4"/>
          <p:cNvCxnSpPr>
            <a:stCxn id="64" idx="3"/>
            <a:endCxn id="65" idx="1"/>
          </p:cNvCxnSpPr>
          <p:nvPr/>
        </p:nvCxnSpPr>
        <p:spPr>
          <a:xfrm flipH="1" rot="10800000">
            <a:off x="2495400" y="3456025"/>
            <a:ext cx="748500" cy="67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4"/>
          <p:cNvCxnSpPr>
            <a:stCxn id="65" idx="3"/>
            <a:endCxn id="71" idx="1"/>
          </p:cNvCxnSpPr>
          <p:nvPr/>
        </p:nvCxnSpPr>
        <p:spPr>
          <a:xfrm flipH="1" rot="10800000">
            <a:off x="4840200" y="3455800"/>
            <a:ext cx="5718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4"/>
          <p:cNvSpPr/>
          <p:nvPr/>
        </p:nvSpPr>
        <p:spPr>
          <a:xfrm>
            <a:off x="5411925" y="3095650"/>
            <a:ext cx="9000" cy="72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/>
              <a:t>We built a network connecting Montandon records and </a:t>
            </a:r>
            <a:r>
              <a:rPr lang="en" sz="1800"/>
              <a:t>external</a:t>
            </a:r>
            <a:r>
              <a:rPr lang="en" sz="1800"/>
              <a:t> data to serve as an LLM query layer</a:t>
            </a:r>
            <a:endParaRPr sz="1800"/>
          </a:p>
        </p:txBody>
      </p:sp>
      <p:sp>
        <p:nvSpPr>
          <p:cNvPr id="77" name="Google Shape;77;p15"/>
          <p:cNvSpPr/>
          <p:nvPr/>
        </p:nvSpPr>
        <p:spPr>
          <a:xfrm>
            <a:off x="3308850" y="1713313"/>
            <a:ext cx="1596300" cy="492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Disaster 1</a:t>
            </a:r>
            <a:endParaRPr b="1" sz="1000"/>
          </a:p>
        </p:txBody>
      </p:sp>
      <p:sp>
        <p:nvSpPr>
          <p:cNvPr id="78" name="Google Shape;78;p15"/>
          <p:cNvSpPr/>
          <p:nvPr/>
        </p:nvSpPr>
        <p:spPr>
          <a:xfrm>
            <a:off x="5881575" y="1433913"/>
            <a:ext cx="1596300" cy="492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Disaster 2</a:t>
            </a:r>
            <a:endParaRPr b="1" sz="1000"/>
          </a:p>
        </p:txBody>
      </p:sp>
      <p:sp>
        <p:nvSpPr>
          <p:cNvPr id="79" name="Google Shape;79;p15"/>
          <p:cNvSpPr/>
          <p:nvPr/>
        </p:nvSpPr>
        <p:spPr>
          <a:xfrm>
            <a:off x="5083425" y="2628575"/>
            <a:ext cx="1596300" cy="492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Disaster 3</a:t>
            </a:r>
            <a:endParaRPr b="1" sz="1000"/>
          </a:p>
        </p:txBody>
      </p:sp>
      <p:grpSp>
        <p:nvGrpSpPr>
          <p:cNvPr id="80" name="Google Shape;80;p15"/>
          <p:cNvGrpSpPr/>
          <p:nvPr/>
        </p:nvGrpSpPr>
        <p:grpSpPr>
          <a:xfrm>
            <a:off x="7059975" y="3740825"/>
            <a:ext cx="1596300" cy="791075"/>
            <a:chOff x="5145725" y="4046000"/>
            <a:chExt cx="1596300" cy="791075"/>
          </a:xfrm>
        </p:grpSpPr>
        <p:sp>
          <p:nvSpPr>
            <p:cNvPr id="81" name="Google Shape;81;p15"/>
            <p:cNvSpPr/>
            <p:nvPr/>
          </p:nvSpPr>
          <p:spPr>
            <a:xfrm>
              <a:off x="5145725" y="4046000"/>
              <a:ext cx="1596300" cy="4926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Red Cross Appeal 1</a:t>
              </a:r>
              <a:endParaRPr b="1" sz="1000"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5160075" y="4538875"/>
              <a:ext cx="15819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</a:rPr>
                <a:t>Appeals associated with events from the GO API</a:t>
              </a:r>
              <a:endParaRPr sz="800">
                <a:solidFill>
                  <a:schemeClr val="dk2"/>
                </a:solidFill>
              </a:endParaRPr>
            </a:p>
          </p:txBody>
        </p:sp>
      </p:grpSp>
      <p:grpSp>
        <p:nvGrpSpPr>
          <p:cNvPr id="83" name="Google Shape;83;p15"/>
          <p:cNvGrpSpPr/>
          <p:nvPr/>
        </p:nvGrpSpPr>
        <p:grpSpPr>
          <a:xfrm>
            <a:off x="3552700" y="3749950"/>
            <a:ext cx="1596300" cy="791075"/>
            <a:chOff x="5145725" y="4046000"/>
            <a:chExt cx="1596300" cy="791075"/>
          </a:xfrm>
        </p:grpSpPr>
        <p:sp>
          <p:nvSpPr>
            <p:cNvPr id="84" name="Google Shape;84;p15"/>
            <p:cNvSpPr/>
            <p:nvPr/>
          </p:nvSpPr>
          <p:spPr>
            <a:xfrm>
              <a:off x="5145725" y="4046000"/>
              <a:ext cx="1596300" cy="4926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Red Cross Event 1</a:t>
              </a:r>
              <a:endParaRPr b="1" sz="1000"/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5160075" y="4538875"/>
              <a:ext cx="15819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</a:rPr>
                <a:t>Associated operation responding to the same disaster from the GO API</a:t>
              </a:r>
              <a:endParaRPr sz="800">
                <a:solidFill>
                  <a:schemeClr val="dk2"/>
                </a:solidFill>
              </a:endParaRPr>
            </a:p>
          </p:txBody>
        </p:sp>
      </p:grpSp>
      <p:cxnSp>
        <p:nvCxnSpPr>
          <p:cNvPr id="86" name="Google Shape;86;p15"/>
          <p:cNvCxnSpPr>
            <a:stCxn id="84" idx="0"/>
            <a:endCxn id="79" idx="1"/>
          </p:cNvCxnSpPr>
          <p:nvPr/>
        </p:nvCxnSpPr>
        <p:spPr>
          <a:xfrm flipH="1" rot="10800000">
            <a:off x="4350850" y="2874850"/>
            <a:ext cx="732600" cy="87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87" name="Google Shape;87;p15"/>
          <p:cNvSpPr txBox="1"/>
          <p:nvPr/>
        </p:nvSpPr>
        <p:spPr>
          <a:xfrm>
            <a:off x="3607050" y="3071075"/>
            <a:ext cx="129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Potentially matching IFRC GO API ID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88" name="Google Shape;88;p15"/>
          <p:cNvCxnSpPr>
            <a:stCxn id="79" idx="1"/>
            <a:endCxn id="77" idx="2"/>
          </p:cNvCxnSpPr>
          <p:nvPr/>
        </p:nvCxnSpPr>
        <p:spPr>
          <a:xfrm rot="10800000">
            <a:off x="4106925" y="2205875"/>
            <a:ext cx="976500" cy="66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89" name="Google Shape;89;p15"/>
          <p:cNvSpPr txBox="1"/>
          <p:nvPr/>
        </p:nvSpPr>
        <p:spPr>
          <a:xfrm>
            <a:off x="3308850" y="2392188"/>
            <a:ext cx="115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Similar embeddings for text fields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90" name="Google Shape;90;p15"/>
          <p:cNvCxnSpPr>
            <a:stCxn id="79" idx="0"/>
            <a:endCxn id="78" idx="2"/>
          </p:cNvCxnSpPr>
          <p:nvPr/>
        </p:nvCxnSpPr>
        <p:spPr>
          <a:xfrm flipH="1" rot="10800000">
            <a:off x="5881575" y="1926575"/>
            <a:ext cx="798300" cy="70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1" name="Google Shape;91;p15"/>
          <p:cNvSpPr txBox="1"/>
          <p:nvPr/>
        </p:nvSpPr>
        <p:spPr>
          <a:xfrm>
            <a:off x="5436438" y="2031238"/>
            <a:ext cx="89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Same country</a:t>
            </a:r>
            <a:endParaRPr sz="800">
              <a:solidFill>
                <a:schemeClr val="dk2"/>
              </a:solidFill>
            </a:endParaRPr>
          </a:p>
        </p:txBody>
      </p:sp>
      <p:grpSp>
        <p:nvGrpSpPr>
          <p:cNvPr id="92" name="Google Shape;92;p15"/>
          <p:cNvGrpSpPr/>
          <p:nvPr/>
        </p:nvGrpSpPr>
        <p:grpSpPr>
          <a:xfrm>
            <a:off x="7110650" y="2242938"/>
            <a:ext cx="1596300" cy="791075"/>
            <a:chOff x="5145725" y="4046000"/>
            <a:chExt cx="1596300" cy="791075"/>
          </a:xfrm>
        </p:grpSpPr>
        <p:sp>
          <p:nvSpPr>
            <p:cNvPr id="93" name="Google Shape;93;p15"/>
            <p:cNvSpPr/>
            <p:nvPr/>
          </p:nvSpPr>
          <p:spPr>
            <a:xfrm>
              <a:off x="5145725" y="4046000"/>
              <a:ext cx="1596300" cy="492600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Article 1</a:t>
              </a:r>
              <a:endParaRPr b="1" sz="1000"/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5160075" y="4538875"/>
              <a:ext cx="15819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</a:rPr>
                <a:t>Article retrieved from an external source (e.g. NewsAPI) describing the event</a:t>
              </a:r>
              <a:endParaRPr sz="800">
                <a:solidFill>
                  <a:schemeClr val="dk2"/>
                </a:solidFill>
              </a:endParaRPr>
            </a:p>
          </p:txBody>
        </p:sp>
      </p:grpSp>
      <p:cxnSp>
        <p:nvCxnSpPr>
          <p:cNvPr id="95" name="Google Shape;95;p15"/>
          <p:cNvCxnSpPr>
            <a:stCxn id="93" idx="1"/>
            <a:endCxn id="79" idx="3"/>
          </p:cNvCxnSpPr>
          <p:nvPr/>
        </p:nvCxnSpPr>
        <p:spPr>
          <a:xfrm flipH="1">
            <a:off x="6679850" y="2489238"/>
            <a:ext cx="430800" cy="38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96" name="Google Shape;96;p15"/>
          <p:cNvCxnSpPr>
            <a:stCxn id="84" idx="3"/>
            <a:endCxn id="81" idx="1"/>
          </p:cNvCxnSpPr>
          <p:nvPr/>
        </p:nvCxnSpPr>
        <p:spPr>
          <a:xfrm flipH="1" rot="10800000">
            <a:off x="5149000" y="3987250"/>
            <a:ext cx="19110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97" name="Google Shape;97;p15"/>
          <p:cNvSpPr txBox="1"/>
          <p:nvPr/>
        </p:nvSpPr>
        <p:spPr>
          <a:xfrm>
            <a:off x="5405188" y="3565596"/>
            <a:ext cx="13986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Matching IFRC GO API ID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345000"/>
            <a:ext cx="2566800" cy="3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Montandon records are connected to each other, external articles, and the IFRC GO API</a:t>
            </a:r>
            <a:endParaRPr sz="1100"/>
          </a:p>
          <a:p>
            <a:pPr indent="-2984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Temperature data is collected from the NASA POWER API and integrated with relevant Montandon records</a:t>
            </a:r>
            <a:endParaRPr sz="1100"/>
          </a:p>
          <a:p>
            <a:pPr indent="-2984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Nodes and edges are saved in a local Neo4j instance</a:t>
            </a:r>
            <a:endParaRPr sz="1100"/>
          </a:p>
          <a:p>
            <a:pPr indent="-298450" lvl="0" marL="4572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●"/>
            </a:pPr>
            <a:r>
              <a:rPr lang="en" sz="1100"/>
              <a:t>LLMs receive tools that execute templated Cypher queries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Historical disaster coverage requires a searchable news archive</a:t>
            </a:r>
            <a:endParaRPr sz="1820"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152101" y="1426043"/>
            <a:ext cx="2999400" cy="24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 u="sng">
                <a:solidFill>
                  <a:schemeClr val="hlink"/>
                </a:solidFill>
                <a:hlinkClick r:id="rId3"/>
              </a:rPr>
              <a:t>NewsAPI.org</a:t>
            </a:r>
            <a:r>
              <a:rPr b="1" lang="en" sz="1200"/>
              <a:t> </a:t>
            </a:r>
            <a:r>
              <a:rPr lang="en" sz="1200"/>
              <a:t>Developer access searches only recent articles.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Media Cloud </a:t>
            </a:r>
            <a:r>
              <a:rPr lang="en" sz="1200"/>
              <a:t>provides historical article discovery for our event dates.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b="1" lang="en" sz="1200"/>
              <a:t>We search by event date, hazard, and country; </a:t>
            </a:r>
            <a:r>
              <a:rPr lang="en" sz="1200"/>
              <a:t>matches are candidates, not confirmed evidence.</a:t>
            </a:r>
            <a:endParaRPr sz="1200"/>
          </a:p>
        </p:txBody>
      </p:sp>
      <p:sp>
        <p:nvSpPr>
          <p:cNvPr id="105" name="Google Shape;105;p16"/>
          <p:cNvSpPr/>
          <p:nvPr/>
        </p:nvSpPr>
        <p:spPr>
          <a:xfrm>
            <a:off x="3435150" y="2877808"/>
            <a:ext cx="1136700" cy="654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Montandon</a:t>
            </a:r>
            <a:r>
              <a:rPr b="1" lang="en" sz="1000"/>
              <a:t> Event</a:t>
            </a:r>
            <a:endParaRPr b="1" sz="1000"/>
          </a:p>
        </p:txBody>
      </p:sp>
      <p:grpSp>
        <p:nvGrpSpPr>
          <p:cNvPr id="106" name="Google Shape;106;p16"/>
          <p:cNvGrpSpPr/>
          <p:nvPr/>
        </p:nvGrpSpPr>
        <p:grpSpPr>
          <a:xfrm>
            <a:off x="7100371" y="2560861"/>
            <a:ext cx="1496332" cy="943029"/>
            <a:chOff x="7100371" y="2560861"/>
            <a:chExt cx="1496332" cy="943029"/>
          </a:xfrm>
        </p:grpSpPr>
        <p:sp>
          <p:nvSpPr>
            <p:cNvPr id="107" name="Google Shape;107;p16"/>
            <p:cNvSpPr/>
            <p:nvPr/>
          </p:nvSpPr>
          <p:spPr>
            <a:xfrm>
              <a:off x="7360049" y="2560861"/>
              <a:ext cx="1236654" cy="612893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Article Candidate</a:t>
              </a:r>
              <a:endParaRPr b="1" sz="1000"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7233270" y="2726178"/>
              <a:ext cx="1236654" cy="612893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Article Candidate</a:t>
              </a:r>
              <a:endParaRPr b="1" sz="1000"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7100371" y="2890997"/>
              <a:ext cx="1236654" cy="612893"/>
            </a:xfrm>
            <a:prstGeom prst="roundRect">
              <a:avLst>
                <a:gd fmla="val 16667" name="adj"/>
              </a:avLst>
            </a:prstGeom>
            <a:solidFill>
              <a:srgbClr val="FFF2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Article Candidate</a:t>
              </a:r>
              <a:endParaRPr b="1"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66666"/>
                  </a:solidFill>
                </a:rPr>
                <a:t>t</a:t>
              </a:r>
              <a:r>
                <a:rPr lang="en" sz="1000">
                  <a:solidFill>
                    <a:srgbClr val="666666"/>
                  </a:solidFill>
                </a:rPr>
                <a:t>itle , date, URL</a:t>
              </a:r>
              <a:endParaRPr sz="1000">
                <a:solidFill>
                  <a:srgbClr val="666666"/>
                </a:solidFill>
              </a:endParaRPr>
            </a:p>
          </p:txBody>
        </p:sp>
      </p:grpSp>
      <p:cxnSp>
        <p:nvCxnSpPr>
          <p:cNvPr id="110" name="Google Shape;110;p16"/>
          <p:cNvCxnSpPr>
            <a:stCxn id="105" idx="3"/>
            <a:endCxn id="111" idx="1"/>
          </p:cNvCxnSpPr>
          <p:nvPr/>
        </p:nvCxnSpPr>
        <p:spPr>
          <a:xfrm>
            <a:off x="4571850" y="3204958"/>
            <a:ext cx="70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6"/>
          <p:cNvSpPr txBox="1"/>
          <p:nvPr/>
        </p:nvSpPr>
        <p:spPr>
          <a:xfrm>
            <a:off x="4624610" y="2712418"/>
            <a:ext cx="74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search query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5272300" y="2877808"/>
            <a:ext cx="1079700" cy="65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Media Cloud API</a:t>
            </a:r>
            <a:endParaRPr b="1" sz="1000"/>
          </a:p>
        </p:txBody>
      </p:sp>
      <p:cxnSp>
        <p:nvCxnSpPr>
          <p:cNvPr id="113" name="Google Shape;113;p16"/>
          <p:cNvCxnSpPr>
            <a:endCxn id="109" idx="1"/>
          </p:cNvCxnSpPr>
          <p:nvPr/>
        </p:nvCxnSpPr>
        <p:spPr>
          <a:xfrm flipH="1" rot="10800000">
            <a:off x="6351871" y="3197443"/>
            <a:ext cx="7485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6"/>
          <p:cNvSpPr txBox="1"/>
          <p:nvPr/>
        </p:nvSpPr>
        <p:spPr>
          <a:xfrm>
            <a:off x="6416798" y="2712425"/>
            <a:ext cx="74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search results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435150" y="1299000"/>
            <a:ext cx="5052300" cy="105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3519350" y="1364791"/>
            <a:ext cx="48546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Pilot: 2025 Texas flash flood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July 3-10, 2025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“Flash Flooding” AND “United States” AND language:en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17" name="Google Shape;117;p16"/>
          <p:cNvCxnSpPr/>
          <p:nvPr/>
        </p:nvCxnSpPr>
        <p:spPr>
          <a:xfrm>
            <a:off x="231900" y="4338350"/>
            <a:ext cx="8511000" cy="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6"/>
          <p:cNvSpPr txBox="1"/>
          <p:nvPr/>
        </p:nvSpPr>
        <p:spPr>
          <a:xfrm>
            <a:off x="231900" y="4350050"/>
            <a:ext cx="86802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Observed pilot:</a:t>
            </a:r>
            <a:r>
              <a:rPr b="1"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100 article candidates returned in the initial API request; relevance not yet verified.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Article candidates must be checked before linking them to disaster</a:t>
            </a:r>
            <a:endParaRPr sz="2220"/>
          </a:p>
        </p:txBody>
      </p:sp>
      <p:sp>
        <p:nvSpPr>
          <p:cNvPr id="124" name="Google Shape;124;p17"/>
          <p:cNvSpPr/>
          <p:nvPr/>
        </p:nvSpPr>
        <p:spPr>
          <a:xfrm>
            <a:off x="8029125" y="3133236"/>
            <a:ext cx="1040100" cy="379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Disaster node</a:t>
            </a:r>
            <a:endParaRPr b="1" sz="1000"/>
          </a:p>
        </p:txBody>
      </p:sp>
      <p:sp>
        <p:nvSpPr>
          <p:cNvPr id="125" name="Google Shape;125;p17"/>
          <p:cNvSpPr/>
          <p:nvPr/>
        </p:nvSpPr>
        <p:spPr>
          <a:xfrm>
            <a:off x="216197" y="3570646"/>
            <a:ext cx="1351200" cy="612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Article Candidate</a:t>
            </a:r>
            <a:endParaRPr b="1" sz="1000"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5069950" y="1228184"/>
            <a:ext cx="3717900" cy="15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Media Cloud supplies title, date, and URL - not downloadable article text.</a:t>
            </a:r>
            <a:endParaRPr sz="1400"/>
          </a:p>
          <a:p>
            <a:pPr indent="-317500" lvl="0" marL="45720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We fetch publisher HTML when </a:t>
            </a:r>
            <a:r>
              <a:rPr lang="en" sz="1400"/>
              <a:t>accessible and extract the body</a:t>
            </a:r>
            <a:endParaRPr sz="1400"/>
          </a:p>
          <a:p>
            <a:pPr indent="-317500" lvl="0" marL="45720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sz="1400"/>
              <a:t>A four-way decision compares article evidence with </a:t>
            </a:r>
            <a:r>
              <a:rPr lang="en" sz="1400"/>
              <a:t>the</a:t>
            </a:r>
            <a:r>
              <a:rPr lang="en" sz="1400"/>
              <a:t> event.</a:t>
            </a:r>
            <a:endParaRPr sz="1400"/>
          </a:p>
        </p:txBody>
      </p:sp>
      <p:cxnSp>
        <p:nvCxnSpPr>
          <p:cNvPr id="127" name="Google Shape;127;p17"/>
          <p:cNvCxnSpPr/>
          <p:nvPr/>
        </p:nvCxnSpPr>
        <p:spPr>
          <a:xfrm flipH="1" rot="10800000">
            <a:off x="1593255" y="3874096"/>
            <a:ext cx="3072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7"/>
          <p:cNvCxnSpPr/>
          <p:nvPr/>
        </p:nvCxnSpPr>
        <p:spPr>
          <a:xfrm flipH="1" rot="10800000">
            <a:off x="3302293" y="3874096"/>
            <a:ext cx="3072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17"/>
          <p:cNvSpPr/>
          <p:nvPr/>
        </p:nvSpPr>
        <p:spPr>
          <a:xfrm>
            <a:off x="234099" y="1196677"/>
            <a:ext cx="4822800" cy="176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640851" y="1202610"/>
            <a:ext cx="40482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Search results mix signal and noise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31" name="Google Shape;131;p17"/>
          <p:cNvGrpSpPr/>
          <p:nvPr/>
        </p:nvGrpSpPr>
        <p:grpSpPr>
          <a:xfrm>
            <a:off x="357024" y="1724675"/>
            <a:ext cx="4408930" cy="379802"/>
            <a:chOff x="382891" y="1530672"/>
            <a:chExt cx="4408930" cy="379802"/>
          </a:xfrm>
        </p:grpSpPr>
        <p:grpSp>
          <p:nvGrpSpPr>
            <p:cNvPr id="132" name="Google Shape;132;p17"/>
            <p:cNvGrpSpPr/>
            <p:nvPr/>
          </p:nvGrpSpPr>
          <p:grpSpPr>
            <a:xfrm>
              <a:off x="382891" y="1530672"/>
              <a:ext cx="4408930" cy="379802"/>
              <a:chOff x="501158" y="1648500"/>
              <a:chExt cx="3997942" cy="440300"/>
            </a:xfrm>
          </p:grpSpPr>
          <p:sp>
            <p:nvSpPr>
              <p:cNvPr id="133" name="Google Shape;133;p17"/>
              <p:cNvSpPr/>
              <p:nvPr/>
            </p:nvSpPr>
            <p:spPr>
              <a:xfrm>
                <a:off x="552900" y="1651400"/>
                <a:ext cx="3946200" cy="437400"/>
              </a:xfrm>
              <a:prstGeom prst="rect">
                <a:avLst/>
              </a:prstGeom>
              <a:solidFill>
                <a:schemeClr val="lt1"/>
              </a:solidFill>
              <a:ln cap="flat" cmpd="sng" w="108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4075" lIns="104075" spcFirstLastPara="1" rIns="104075" wrap="square" tIns="104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94"/>
              </a:p>
            </p:txBody>
          </p:sp>
          <p:sp>
            <p:nvSpPr>
              <p:cNvPr id="134" name="Google Shape;134;p17"/>
              <p:cNvSpPr/>
              <p:nvPr/>
            </p:nvSpPr>
            <p:spPr>
              <a:xfrm>
                <a:off x="501158" y="1648500"/>
                <a:ext cx="930300" cy="437400"/>
              </a:xfrm>
              <a:prstGeom prst="roundRect">
                <a:avLst>
                  <a:gd fmla="val 16667" name="adj"/>
                </a:avLst>
              </a:prstGeom>
              <a:solidFill>
                <a:srgbClr val="FFF2CC"/>
              </a:solidFill>
              <a:ln cap="flat" cmpd="sng" w="108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4075" lIns="104075" spcFirstLastPara="1" rIns="104075" wrap="square" tIns="104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38"/>
                  <a:t>Looks relevant</a:t>
                </a:r>
                <a:endParaRPr b="1" sz="1138"/>
              </a:p>
            </p:txBody>
          </p:sp>
        </p:grpSp>
        <p:sp>
          <p:nvSpPr>
            <p:cNvPr id="135" name="Google Shape;135;p17"/>
            <p:cNvSpPr txBox="1"/>
            <p:nvPr/>
          </p:nvSpPr>
          <p:spPr>
            <a:xfrm>
              <a:off x="1474426" y="1564951"/>
              <a:ext cx="3153300" cy="3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Texas flash flood is a preview of chaos to come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357037" y="2190625"/>
            <a:ext cx="4408930" cy="379802"/>
            <a:chOff x="382904" y="2009555"/>
            <a:chExt cx="4408930" cy="379802"/>
          </a:xfrm>
        </p:grpSpPr>
        <p:grpSp>
          <p:nvGrpSpPr>
            <p:cNvPr id="137" name="Google Shape;137;p17"/>
            <p:cNvGrpSpPr/>
            <p:nvPr/>
          </p:nvGrpSpPr>
          <p:grpSpPr>
            <a:xfrm>
              <a:off x="382904" y="2009555"/>
              <a:ext cx="4408930" cy="379802"/>
              <a:chOff x="501158" y="1648500"/>
              <a:chExt cx="3997942" cy="440300"/>
            </a:xfrm>
          </p:grpSpPr>
          <p:sp>
            <p:nvSpPr>
              <p:cNvPr id="138" name="Google Shape;138;p17"/>
              <p:cNvSpPr/>
              <p:nvPr/>
            </p:nvSpPr>
            <p:spPr>
              <a:xfrm>
                <a:off x="552900" y="1651400"/>
                <a:ext cx="3946200" cy="437400"/>
              </a:xfrm>
              <a:prstGeom prst="rect">
                <a:avLst/>
              </a:prstGeom>
              <a:solidFill>
                <a:schemeClr val="lt1"/>
              </a:solidFill>
              <a:ln cap="flat" cmpd="sng" w="108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4075" lIns="104075" spcFirstLastPara="1" rIns="104075" wrap="square" tIns="104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94"/>
              </a:p>
            </p:txBody>
          </p:sp>
          <p:sp>
            <p:nvSpPr>
              <p:cNvPr id="139" name="Google Shape;139;p17"/>
              <p:cNvSpPr/>
              <p:nvPr/>
            </p:nvSpPr>
            <p:spPr>
              <a:xfrm>
                <a:off x="501158" y="1648500"/>
                <a:ext cx="930300" cy="4374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108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04075" lIns="104075" spcFirstLastPara="1" rIns="104075" wrap="square" tIns="1040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38"/>
                  <a:t>Looks unrelated</a:t>
                </a:r>
                <a:endParaRPr b="1" sz="1138"/>
              </a:p>
            </p:txBody>
          </p:sp>
        </p:grpSp>
        <p:sp>
          <p:nvSpPr>
            <p:cNvPr id="140" name="Google Shape;140;p17"/>
            <p:cNvSpPr txBox="1"/>
            <p:nvPr/>
          </p:nvSpPr>
          <p:spPr>
            <a:xfrm>
              <a:off x="1497475" y="2025718"/>
              <a:ext cx="3153300" cy="3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EPA article about contrails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sp>
        <p:nvSpPr>
          <p:cNvPr id="141" name="Google Shape;141;p17"/>
          <p:cNvSpPr txBox="1"/>
          <p:nvPr/>
        </p:nvSpPr>
        <p:spPr>
          <a:xfrm>
            <a:off x="421701" y="2583844"/>
            <a:ext cx="46869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Both appeared in the first 100 results for the same event query.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678782" y="3562861"/>
            <a:ext cx="1404000" cy="65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Event relevance decision</a:t>
            </a:r>
            <a:endParaRPr b="1" sz="1000"/>
          </a:p>
        </p:txBody>
      </p:sp>
      <p:sp>
        <p:nvSpPr>
          <p:cNvPr id="143" name="Google Shape;143;p17"/>
          <p:cNvSpPr/>
          <p:nvPr/>
        </p:nvSpPr>
        <p:spPr>
          <a:xfrm>
            <a:off x="1898303" y="3562870"/>
            <a:ext cx="1404000" cy="65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Publisher body extraction</a:t>
            </a:r>
            <a:endParaRPr b="1" sz="1000"/>
          </a:p>
        </p:txBody>
      </p:sp>
      <p:cxnSp>
        <p:nvCxnSpPr>
          <p:cNvPr id="144" name="Google Shape;144;p17"/>
          <p:cNvCxnSpPr>
            <a:stCxn id="142" idx="3"/>
          </p:cNvCxnSpPr>
          <p:nvPr/>
        </p:nvCxnSpPr>
        <p:spPr>
          <a:xfrm>
            <a:off x="5082782" y="3890011"/>
            <a:ext cx="3105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7"/>
          <p:cNvCxnSpPr/>
          <p:nvPr/>
        </p:nvCxnSpPr>
        <p:spPr>
          <a:xfrm>
            <a:off x="5380375" y="3322381"/>
            <a:ext cx="2715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7"/>
          <p:cNvCxnSpPr/>
          <p:nvPr/>
        </p:nvCxnSpPr>
        <p:spPr>
          <a:xfrm>
            <a:off x="5380375" y="3323936"/>
            <a:ext cx="0" cy="11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7"/>
          <p:cNvCxnSpPr/>
          <p:nvPr/>
        </p:nvCxnSpPr>
        <p:spPr>
          <a:xfrm>
            <a:off x="5390506" y="3681717"/>
            <a:ext cx="2715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7"/>
          <p:cNvCxnSpPr/>
          <p:nvPr/>
        </p:nvCxnSpPr>
        <p:spPr>
          <a:xfrm>
            <a:off x="5387704" y="4092787"/>
            <a:ext cx="2715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7"/>
          <p:cNvCxnSpPr/>
          <p:nvPr/>
        </p:nvCxnSpPr>
        <p:spPr>
          <a:xfrm>
            <a:off x="5384902" y="4465057"/>
            <a:ext cx="2715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17"/>
          <p:cNvSpPr/>
          <p:nvPr/>
        </p:nvSpPr>
        <p:spPr>
          <a:xfrm>
            <a:off x="5748325" y="3162336"/>
            <a:ext cx="1404000" cy="321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Same event</a:t>
            </a:r>
            <a:endParaRPr b="1" sz="1000"/>
          </a:p>
        </p:txBody>
      </p:sp>
      <p:sp>
        <p:nvSpPr>
          <p:cNvPr id="151" name="Google Shape;151;p17"/>
          <p:cNvSpPr/>
          <p:nvPr/>
        </p:nvSpPr>
        <p:spPr>
          <a:xfrm>
            <a:off x="5748325" y="3570636"/>
            <a:ext cx="1404000" cy="321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Related context</a:t>
            </a:r>
            <a:endParaRPr b="1" sz="1000"/>
          </a:p>
        </p:txBody>
      </p:sp>
      <p:sp>
        <p:nvSpPr>
          <p:cNvPr id="152" name="Google Shape;152;p17"/>
          <p:cNvSpPr/>
          <p:nvPr/>
        </p:nvSpPr>
        <p:spPr>
          <a:xfrm>
            <a:off x="5748325" y="3978936"/>
            <a:ext cx="1404000" cy="321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Uncertain/ body unavailable</a:t>
            </a:r>
            <a:endParaRPr b="1" sz="1000"/>
          </a:p>
        </p:txBody>
      </p:sp>
      <p:sp>
        <p:nvSpPr>
          <p:cNvPr id="153" name="Google Shape;153;p17"/>
          <p:cNvSpPr/>
          <p:nvPr/>
        </p:nvSpPr>
        <p:spPr>
          <a:xfrm>
            <a:off x="5748325" y="4387236"/>
            <a:ext cx="1404000" cy="321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Different event</a:t>
            </a:r>
            <a:endParaRPr b="1" sz="1000"/>
          </a:p>
        </p:txBody>
      </p:sp>
      <p:cxnSp>
        <p:nvCxnSpPr>
          <p:cNvPr id="154" name="Google Shape;154;p17"/>
          <p:cNvCxnSpPr>
            <a:stCxn id="150" idx="3"/>
            <a:endCxn id="124" idx="1"/>
          </p:cNvCxnSpPr>
          <p:nvPr/>
        </p:nvCxnSpPr>
        <p:spPr>
          <a:xfrm>
            <a:off x="7152325" y="3323136"/>
            <a:ext cx="8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17"/>
          <p:cNvSpPr txBox="1"/>
          <p:nvPr/>
        </p:nvSpPr>
        <p:spPr>
          <a:xfrm>
            <a:off x="7092990" y="3013455"/>
            <a:ext cx="1040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VERIFIED_FOR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800"/>
              <a:t>Local LLM performance was benchmarked against a set of fact retrieval questions</a:t>
            </a:r>
            <a:endParaRPr sz="1800"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311700" y="1345000"/>
            <a:ext cx="2566800" cy="3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We created question banks with known answers from the network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LLMs were given these questions and graded on performance (% </a:t>
            </a:r>
            <a:r>
              <a:rPr lang="en" sz="1100"/>
              <a:t>correct</a:t>
            </a:r>
            <a:r>
              <a:rPr lang="en" sz="1100"/>
              <a:t>)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Answers</a:t>
            </a:r>
            <a:r>
              <a:rPr lang="en" sz="1100"/>
              <a:t> were requested in </a:t>
            </a:r>
            <a:r>
              <a:rPr lang="en" sz="1100"/>
              <a:t>specific formats supporting substring checks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1000"/>
              </a:spcAft>
              <a:buSzPts val="1100"/>
              <a:buChar char="●"/>
            </a:pPr>
            <a:r>
              <a:rPr lang="en" sz="1100"/>
              <a:t>Testing centered around Qwen3-1.7B, Qwen3-5-4B, and Qwen3.5-9B</a:t>
            </a:r>
            <a:endParaRPr sz="1100"/>
          </a:p>
        </p:txBody>
      </p:sp>
      <p:sp>
        <p:nvSpPr>
          <p:cNvPr id="162" name="Google Shape;162;p18"/>
          <p:cNvSpPr/>
          <p:nvPr/>
        </p:nvSpPr>
        <p:spPr>
          <a:xfrm>
            <a:off x="3978499" y="3172475"/>
            <a:ext cx="4101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“How many people were affected by X disaster”?</a:t>
            </a:r>
            <a:endParaRPr b="1" sz="1000"/>
          </a:p>
        </p:txBody>
      </p:sp>
      <p:grpSp>
        <p:nvGrpSpPr>
          <p:cNvPr id="163" name="Google Shape;163;p18"/>
          <p:cNvGrpSpPr/>
          <p:nvPr/>
        </p:nvGrpSpPr>
        <p:grpSpPr>
          <a:xfrm>
            <a:off x="4006882" y="3873225"/>
            <a:ext cx="3906053" cy="335100"/>
            <a:chOff x="4062849" y="2157902"/>
            <a:chExt cx="2036524" cy="335100"/>
          </a:xfrm>
        </p:grpSpPr>
        <p:sp>
          <p:nvSpPr>
            <p:cNvPr id="164" name="Google Shape;164;p18"/>
            <p:cNvSpPr/>
            <p:nvPr/>
          </p:nvSpPr>
          <p:spPr>
            <a:xfrm>
              <a:off x="4062849" y="2188350"/>
              <a:ext cx="143100" cy="2742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4254673" y="2157902"/>
              <a:ext cx="18447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</a:rPr>
                <a:t>X disaster affected </a:t>
              </a:r>
              <a:r>
                <a:rPr b="1" lang="en" sz="800">
                  <a:solidFill>
                    <a:schemeClr val="dk2"/>
                  </a:solidFill>
                </a:rPr>
                <a:t>12,050</a:t>
              </a:r>
              <a:r>
                <a:rPr lang="en" sz="800">
                  <a:solidFill>
                    <a:schemeClr val="dk2"/>
                  </a:solidFill>
                </a:rPr>
                <a:t> people.</a:t>
              </a:r>
              <a:endParaRPr sz="800">
                <a:solidFill>
                  <a:schemeClr val="dk2"/>
                </a:solidFill>
              </a:endParaRPr>
            </a:p>
          </p:txBody>
        </p:sp>
      </p:grpSp>
      <p:grpSp>
        <p:nvGrpSpPr>
          <p:cNvPr id="166" name="Google Shape;166;p18"/>
          <p:cNvGrpSpPr/>
          <p:nvPr/>
        </p:nvGrpSpPr>
        <p:grpSpPr>
          <a:xfrm>
            <a:off x="4006901" y="4242750"/>
            <a:ext cx="3905862" cy="335100"/>
            <a:chOff x="4062872" y="2157902"/>
            <a:chExt cx="2036424" cy="335100"/>
          </a:xfrm>
        </p:grpSpPr>
        <p:sp>
          <p:nvSpPr>
            <p:cNvPr id="167" name="Google Shape;167;p18"/>
            <p:cNvSpPr/>
            <p:nvPr/>
          </p:nvSpPr>
          <p:spPr>
            <a:xfrm>
              <a:off x="4062872" y="2177275"/>
              <a:ext cx="143100" cy="274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4252196" y="2157902"/>
              <a:ext cx="18471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</a:rPr>
                <a:t>X disaster affected 20 people.</a:t>
              </a:r>
              <a:endParaRPr sz="800">
                <a:solidFill>
                  <a:schemeClr val="dk2"/>
                </a:solidFill>
              </a:endParaRPr>
            </a:p>
          </p:txBody>
        </p:sp>
      </p:grpSp>
      <p:sp>
        <p:nvSpPr>
          <p:cNvPr id="169" name="Google Shape;169;p18"/>
          <p:cNvSpPr/>
          <p:nvPr/>
        </p:nvSpPr>
        <p:spPr>
          <a:xfrm>
            <a:off x="4006950" y="1345000"/>
            <a:ext cx="40728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“Which disaster (by starting date) had the highest wind speed?</a:t>
            </a:r>
            <a:endParaRPr b="1" sz="1000"/>
          </a:p>
        </p:txBody>
      </p:sp>
      <p:grpSp>
        <p:nvGrpSpPr>
          <p:cNvPr id="170" name="Google Shape;170;p18"/>
          <p:cNvGrpSpPr/>
          <p:nvPr/>
        </p:nvGrpSpPr>
        <p:grpSpPr>
          <a:xfrm>
            <a:off x="4040757" y="2045750"/>
            <a:ext cx="3900486" cy="335100"/>
            <a:chOff x="4065482" y="2157906"/>
            <a:chExt cx="2033834" cy="335100"/>
          </a:xfrm>
        </p:grpSpPr>
        <p:sp>
          <p:nvSpPr>
            <p:cNvPr id="171" name="Google Shape;171;p18"/>
            <p:cNvSpPr/>
            <p:nvPr/>
          </p:nvSpPr>
          <p:spPr>
            <a:xfrm>
              <a:off x="4065482" y="2188350"/>
              <a:ext cx="143100" cy="2742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4252515" y="2157906"/>
              <a:ext cx="18468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</a:rPr>
                <a:t>&lt;</a:t>
              </a:r>
              <a:r>
                <a:rPr b="1" lang="en" sz="800">
                  <a:solidFill>
                    <a:schemeClr val="dk2"/>
                  </a:solidFill>
                </a:rPr>
                <a:t>answer&gt;2025-10-01&lt;/answer</a:t>
              </a:r>
              <a:r>
                <a:rPr lang="en" sz="800">
                  <a:solidFill>
                    <a:schemeClr val="dk2"/>
                  </a:solidFill>
                </a:rPr>
                <a:t>&gt;</a:t>
              </a:r>
              <a:endParaRPr sz="800">
                <a:solidFill>
                  <a:schemeClr val="dk2"/>
                </a:solidFill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4040781" y="2415275"/>
            <a:ext cx="4215834" cy="335100"/>
            <a:chOff x="4064079" y="2157901"/>
            <a:chExt cx="2035160" cy="335100"/>
          </a:xfrm>
        </p:grpSpPr>
        <p:sp>
          <p:nvSpPr>
            <p:cNvPr id="174" name="Google Shape;174;p18"/>
            <p:cNvSpPr/>
            <p:nvPr/>
          </p:nvSpPr>
          <p:spPr>
            <a:xfrm>
              <a:off x="4064079" y="2188350"/>
              <a:ext cx="132300" cy="2742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4241339" y="2157901"/>
              <a:ext cx="18579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</a:rPr>
                <a:t>Disasters on </a:t>
              </a:r>
              <a:r>
                <a:rPr lang="en" sz="800">
                  <a:solidFill>
                    <a:schemeClr val="dk2"/>
                  </a:solidFill>
                </a:rPr>
                <a:t>2025-10-01 and 2025-10-09 had equivalent wind speed.</a:t>
              </a:r>
              <a:endParaRPr sz="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800"/>
              <a:t>Qwen3.5-4B performed the best in evaluations, making that our local LLM of choice for an initial demo (</a:t>
            </a:r>
            <a:r>
              <a:rPr lang="en" sz="1800"/>
              <a:t>1/2</a:t>
            </a:r>
            <a:r>
              <a:rPr lang="en" sz="1800"/>
              <a:t>)</a:t>
            </a:r>
            <a:endParaRPr sz="1800"/>
          </a:p>
        </p:txBody>
      </p:sp>
      <p:pic>
        <p:nvPicPr>
          <p:cNvPr id="181" name="Google Shape;181;p19" title="summ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200" y="1495933"/>
            <a:ext cx="4958572" cy="330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3665475" y="1177475"/>
            <a:ext cx="2926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Benchmark 1: General fact retrieval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311700" y="1345000"/>
            <a:ext cx="2566800" cy="3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Interestingly, Qwen3.5-4B performed better than its 9B counterpart</a:t>
            </a:r>
            <a:endParaRPr sz="1200"/>
          </a:p>
          <a:p>
            <a:pPr indent="-29908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All models had some difficulty following instructions well</a:t>
            </a:r>
            <a:endParaRPr sz="1200"/>
          </a:p>
          <a:p>
            <a:pPr indent="-29908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Benchmarks informed the templated tool approach due to difficulties with raw Cypher</a:t>
            </a:r>
            <a:endParaRPr sz="1200"/>
          </a:p>
          <a:p>
            <a:pPr indent="-299085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n" sz="1200"/>
              <a:t>General fact retrieval was tested alongside historical weather data (latter with/without tools) to investigate innate world knowledge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title="summ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200" y="1495925"/>
            <a:ext cx="4958576" cy="330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800"/>
              <a:t>Qwen3.5-4B performed the best in evaluations, making that our local LLM of choice for an initial demo (2/2)</a:t>
            </a:r>
            <a:endParaRPr sz="1800"/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311700" y="1345000"/>
            <a:ext cx="2566800" cy="3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Interestingly, Qwen3.5-4B performed better than its 9B counterpart</a:t>
            </a:r>
            <a:endParaRPr sz="1200"/>
          </a:p>
          <a:p>
            <a:pPr indent="-29908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All models had some difficulty following instructions well</a:t>
            </a:r>
            <a:endParaRPr sz="1200"/>
          </a:p>
          <a:p>
            <a:pPr indent="-29908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Benchmarks informed the templated tool approach due to difficulties with raw Cypher</a:t>
            </a:r>
            <a:endParaRPr sz="1200"/>
          </a:p>
          <a:p>
            <a:pPr indent="-299085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n" sz="1200"/>
              <a:t>General fact retrieval was tested alongside historical weather data (latter with/without tools) to investigate innate </a:t>
            </a:r>
            <a:r>
              <a:rPr lang="en" sz="1200"/>
              <a:t>world knowledge</a:t>
            </a:r>
            <a:endParaRPr sz="1200"/>
          </a:p>
        </p:txBody>
      </p:sp>
      <p:sp>
        <p:nvSpPr>
          <p:cNvPr id="191" name="Google Shape;191;p20"/>
          <p:cNvSpPr txBox="1"/>
          <p:nvPr/>
        </p:nvSpPr>
        <p:spPr>
          <a:xfrm>
            <a:off x="3665475" y="1177475"/>
            <a:ext cx="2926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Benchmark 2: Historical weather data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</a:t>
            </a:r>
            <a:endParaRPr/>
          </a:p>
        </p:txBody>
      </p:sp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311700" y="1152475"/>
            <a:ext cx="350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Built a Streamlit app that wraps the QueryAssistant and shows its output </a:t>
            </a:r>
            <a:endParaRPr/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Shows conversation history and a list of specific disaster records that contributed to the answer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1" title="Screenshot 2026-10-20 at 5.01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675" y="1314725"/>
            <a:ext cx="4826151" cy="251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title="Screenshot 2026-10-20 at 5.11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2536"/>
            <a:ext cx="8839202" cy="4598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